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3071"/>
    <a:srgbClr val="C2A9D3"/>
    <a:srgbClr val="2F0E5F"/>
    <a:srgbClr val="FE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CC6D-50A1-49D7-BBD9-F4711328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1B2BD-BA92-4CD9-99F9-3C7ABBA1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7ECFC-EC7D-4E8E-99F8-ECE492703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74C7A-F264-4F6E-8257-55F177B003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835B8-F670-478D-9FC6-8D536FBA03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604FB96-A152-47DE-BF94-7FC2A5DC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C40F-B2E2-4A57-9EDB-F2CB4A33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C4B6-E822-4A04-BA4E-FF09FE6B0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D735A-2D1C-4151-861E-06F6A7509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85F9A-4B50-4C54-8698-3C528E9287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B209D-E867-4909-A2CB-F1F46C95C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80" y="256848"/>
            <a:ext cx="1145133" cy="361341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657" y="206187"/>
            <a:ext cx="863243" cy="4120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AC8C-FF2E-4C4C-B215-5B86E26E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953D1-4E4E-4D7F-873E-B066E268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8CD9-40F6-425E-8918-DF68E870F7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1225A-CDED-48C1-A066-07749C3856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76DD-18EE-4A31-970C-4D8F4E76C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ED2A-3583-4292-9435-B0D3E7E9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7A9E-9FAD-4D08-A9E1-4BA53254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24914-DE30-453A-91BA-03D5EA9D98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24206-DD27-4A4B-B167-010C411700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C6B4C-A61E-4DB9-AB3F-9D4CB0EF3A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C791B-4177-4D99-9458-72E74ADB1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F933-4FAD-4A12-B460-64D94303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FF731-1E64-45A9-B43D-1A8C984CC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8E4E-2162-421A-A691-50D4C2C4C21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20755-6ADA-4C80-AF14-AC56CF22D83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266AF-4922-4536-9B04-04017B6DD4A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2ACB2-8C6C-4319-973D-7E23FABCB1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AFA0D-22C2-4791-9F7A-EA32BF3EF8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55D2B-2552-47A9-845D-578B92E9A4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D68F-65BB-4C28-B854-7F575DB2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DB7F26-5CDB-41FD-9158-6121ABCEE8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C7946-5877-4F24-A67E-7F7B529E88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BC395-F2F9-4F18-BAC0-0D0A233010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5C6D8-F083-415A-8CAF-978A6C13F4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0463D-BAC2-4008-BD92-AA686F03B9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3B0C7-2F68-427B-9DDA-36211B9994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A959-0C3B-4AAD-BF60-E49A76F3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A80E-5F56-413C-8634-AFB2CBA5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C2F9C-A745-4CEA-876E-C53E8405E1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E7228-597B-4BA9-85B3-1122DA7837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2E9AB-E5AD-47BF-B77E-C4A7476183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BFDD5-954B-4C42-98A6-CBEC990323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71BA-B80C-416E-B480-2E2EF0D7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81E87-4E58-4F19-B7D0-EB9DB5093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CCDA3-B0A7-429F-AAFB-82113EE3CF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4D425-4294-4CD5-8E0F-85CEA51334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1D430-000B-4EEE-A1E0-F10AB0F9AA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7C496-AC72-4A0B-A5A8-2101B4F81A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41C5-1A88-46E4-9C83-3566062B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D4C07-AFD9-4E77-B99B-05174CB34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58FD3-911A-40C3-834D-144006D8EA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FFEFC-10F2-4AE4-B7DE-0F6B137B0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E998-6683-4F1B-9036-97ED83EA0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1A54F-14F5-4F01-8FB7-48D224E0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716F5-B13A-4614-9053-AD503891E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912A-8FC9-4AF4-97C1-8B8A3FF63D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88729-D05A-490F-B06B-F853046221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8EA07-C457-4C3F-8CEA-65BC66D2F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55874D-83D6-46FB-8AC2-1B761C2F12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DA987-F5D6-4DB3-8DAC-40B6245A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A9378-FB72-47F2-A3C9-FB4C0945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365E7-A39F-4734-A384-9424884A63A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87349-D367-405F-AAC1-86F7777154E3}" type="datetimeFigureOut">
              <a:t>8/8/2026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9015-8F7A-4B09-BE83-979802A9CD7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C36BC-5BFA-4A0E-A4B6-B310A7EEE5A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5874D-83D6-46FB-8AC2-1B761C2F126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rtyrock.aws/u/geethikadasari/rVxVouJms7/NIRA-Women's-Menstrual-Health-Navigato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overPhoto1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0" y="6184"/>
            <a:ext cx="12192000" cy="6857999"/>
          </a:xfrm>
          <a:prstGeom prst="rect">
            <a:avLst/>
          </a:prstGeom>
          <a:effectLst>
            <a:reflection blurRad="1270000" stA="1000" endPos="65000" dist="1270000" dir="5400000" sy="-100000" algn="bl" rotWithShape="0"/>
          </a:effectLst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BA0CEDBC-E782-B868-B32E-81C3AB385E02}"/>
              </a:ext>
            </a:extLst>
          </p:cNvPr>
          <p:cNvSpPr>
            <a:spLocks noGrp="1"/>
          </p:cNvSpPr>
          <p:nvPr/>
        </p:nvSpPr>
        <p:spPr>
          <a:xfrm>
            <a:off x="8951950" y="-621792"/>
            <a:ext cx="4383439" cy="4047744"/>
          </a:xfrm>
          <a:prstGeom prst="ellipse">
            <a:avLst/>
          </a:prstGeom>
          <a:solidFill>
            <a:srgbClr val="F5F3FF">
              <a:alpha val="80000"/>
            </a:srgbClr>
          </a:solidFill>
          <a:ln w="12700">
            <a:solidFill>
              <a:srgbClr val="F5F3FF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CF0D803-54D3-434A-8009-5A4E5A2FF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170CE6-6071-4773-8092-04F0B3E24394}"/>
              </a:ext>
            </a:extLst>
          </p:cNvPr>
          <p:cNvSpPr>
            <a:spLocks noGrp="1"/>
          </p:cNvSpPr>
          <p:nvPr/>
        </p:nvSpPr>
        <p:spPr>
          <a:xfrm>
            <a:off x="395713" y="1747343"/>
            <a:ext cx="10363200" cy="48768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3733" b="1">
                <a:latin typeface="Calibri"/>
                <a:ea typeface="Calibri"/>
                <a:cs typeface="Calibri"/>
              </a:rPr>
              <a:t>ASPIRE FOR HER  ×  LOGITECH </a:t>
            </a:r>
          </a:p>
          <a:p>
            <a:endParaRPr sz="3733" b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DF8F83-5C68-45F2-84A9-A19D1FD99EDC}"/>
              </a:ext>
            </a:extLst>
          </p:cNvPr>
          <p:cNvSpPr>
            <a:spLocks noGrp="1"/>
          </p:cNvSpPr>
          <p:nvPr/>
        </p:nvSpPr>
        <p:spPr>
          <a:xfrm>
            <a:off x="426720" y="2998652"/>
            <a:ext cx="11338560" cy="13411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667" b="1" dirty="0">
                <a:latin typeface="Calibri"/>
                <a:ea typeface="Calibri"/>
                <a:cs typeface="Calibri"/>
              </a:rPr>
              <a:t>Women Who Master — Individual GenAI Hackathon Submission</a:t>
            </a:r>
          </a:p>
          <a:p>
            <a:endParaRPr sz="2667" b="1" dirty="0">
              <a:latin typeface="Calibri"/>
              <a:ea typeface="Calibri"/>
              <a:cs typeface="Calibri"/>
            </a:endParaRPr>
          </a:p>
          <a:p>
            <a:r>
              <a:rPr sz="2667" b="1" dirty="0">
                <a:latin typeface="Calibri"/>
                <a:ea typeface="Calibri"/>
                <a:cs typeface="Calibri"/>
              </a:rPr>
              <a:t>Submitted by: </a:t>
            </a:r>
            <a:r>
              <a:rPr lang="en-US" sz="2667" dirty="0">
                <a:latin typeface="Calibri"/>
                <a:ea typeface="Calibri"/>
                <a:cs typeface="Calibri"/>
              </a:rPr>
              <a:t>Geethika Dasari</a:t>
            </a:r>
            <a:r>
              <a:rPr sz="2667" dirty="0">
                <a:latin typeface="Calibri"/>
                <a:ea typeface="Calibri"/>
                <a:cs typeface="Calibri"/>
              </a:rPr>
              <a:t>  </a:t>
            </a:r>
            <a:r>
              <a:rPr sz="2667" b="1" dirty="0">
                <a:latin typeface="Calibri"/>
                <a:ea typeface="Calibri"/>
                <a:cs typeface="Calibri"/>
              </a:rPr>
              <a:t>| Roll number: </a:t>
            </a:r>
            <a:r>
              <a:rPr lang="en-IN" b="1" dirty="0"/>
              <a:t>WWM26-VIZ-G-T074-L01</a:t>
            </a:r>
          </a:p>
          <a:p>
            <a:r>
              <a:rPr lang="en-IN" sz="2667" b="1" dirty="0">
                <a:latin typeface="Calibri"/>
                <a:ea typeface="Calibri"/>
                <a:cs typeface="Calibri"/>
              </a:rPr>
              <a:t>Location: </a:t>
            </a:r>
            <a:r>
              <a:rPr lang="en-IN" sz="2667" dirty="0">
                <a:latin typeface="Calibri"/>
                <a:ea typeface="Calibri"/>
                <a:cs typeface="Calibri"/>
              </a:rPr>
              <a:t>Visakhapatnam 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898F68-974D-42FD-8214-12AD49C0F595}"/>
              </a:ext>
            </a:extLst>
          </p:cNvPr>
          <p:cNvSpPr>
            <a:spLocks noGrp="1"/>
          </p:cNvSpPr>
          <p:nvPr/>
        </p:nvSpPr>
        <p:spPr>
          <a:xfrm>
            <a:off x="609600" y="3462287"/>
            <a:ext cx="10363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endParaRPr/>
          </a:p>
        </p:txBody>
      </p:sp>
      <p:pic>
        <p:nvPicPr>
          <p:cNvPr id="34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4" y="232606"/>
            <a:ext cx="1812900" cy="572052"/>
          </a:xfrm>
          <a:prstGeom prst="rect">
            <a:avLst/>
          </a:prstGeom>
        </p:spPr>
      </p:pic>
      <p:pic>
        <p:nvPicPr>
          <p:cNvPr id="35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845" y="153062"/>
            <a:ext cx="1647687" cy="7863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5C5AD80-01A3-2A2A-751F-3B54899D1F52}"/>
              </a:ext>
            </a:extLst>
          </p:cNvPr>
          <p:cNvSpPr>
            <a:spLocks noGrp="1"/>
          </p:cNvSpPr>
          <p:nvPr/>
        </p:nvSpPr>
        <p:spPr>
          <a:xfrm>
            <a:off x="395713" y="2319398"/>
            <a:ext cx="9310539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67" b="1">
                <a:latin typeface="Calibri"/>
                <a:ea typeface="Calibri"/>
                <a:cs typeface="Calibri"/>
              </a:rPr>
              <a:t> 🏆 In collaboration with AICTE &amp; applied for “Guinness Book of World Records”</a:t>
            </a:r>
          </a:p>
        </p:txBody>
      </p:sp>
    </p:spTree>
    <p:extLst>
      <p:ext uri="{BB962C8B-B14F-4D97-AF65-F5344CB8AC3E}">
        <p14:creationId xmlns:p14="http://schemas.microsoft.com/office/powerpoint/2010/main" val="225788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12D9-CDF4-103F-D026-4B8EFA19157B}"/>
              </a:ext>
            </a:extLst>
          </p:cNvPr>
          <p:cNvSpPr>
            <a:spLocks noGrp="1"/>
          </p:cNvSpPr>
          <p:nvPr/>
        </p:nvSpPr>
        <p:spPr>
          <a:xfrm>
            <a:off x="1576044" y="172305"/>
            <a:ext cx="9467876" cy="531846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IN" sz="2200" b="1" dirty="0"/>
              <a:t>Problem Statement 1 — Health: From Confusion to the Right Next Step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2A3CA2-B4B8-FAC4-207F-D8967CB75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" y="1016000"/>
            <a:ext cx="108204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5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012ED5-1DDD-672A-82F4-02F53BACB371}"/>
              </a:ext>
            </a:extLst>
          </p:cNvPr>
          <p:cNvSpPr>
            <a:spLocks noGrp="1"/>
          </p:cNvSpPr>
          <p:nvPr/>
        </p:nvSpPr>
        <p:spPr>
          <a:xfrm>
            <a:off x="9234196" y="1026368"/>
            <a:ext cx="2957805" cy="5831632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endParaRPr lang="en-US" b="1" dirty="0">
              <a:solidFill>
                <a:srgbClr val="C2A9D3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B45DA-B730-E4E8-97E6-9B02814CE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026368"/>
            <a:ext cx="10627360" cy="5831632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CBEA297-4B49-E15A-DC93-871E3A835834}"/>
              </a:ext>
            </a:extLst>
          </p:cNvPr>
          <p:cNvSpPr>
            <a:spLocks noGrp="1"/>
          </p:cNvSpPr>
          <p:nvPr/>
        </p:nvSpPr>
        <p:spPr>
          <a:xfrm>
            <a:off x="1330602" y="212935"/>
            <a:ext cx="9205318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700"/>
          </a:bodyPr>
          <a:lstStyle>
            <a:defPPr>
              <a:defRPr lang="en-US"/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User and 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400112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86C7-194A-CA42-0413-CB9E37E57736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909745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2929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Proposed Solution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9D99E1-1D4D-6E5F-80FF-70A39494D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005840"/>
            <a:ext cx="12185522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4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896537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GenAI Workflow or System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03671B-A801-F942-26F5-06945BA7C01B}"/>
              </a:ext>
            </a:extLst>
          </p:cNvPr>
          <p:cNvSpPr>
            <a:spLocks noGrp="1"/>
          </p:cNvSpPr>
          <p:nvPr/>
        </p:nvSpPr>
        <p:spPr>
          <a:xfrm>
            <a:off x="304800" y="1104900"/>
            <a:ext cx="11582400" cy="409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Show how information moves through your solution. A simple flow, annotated screenshot or architecture sketch is sufficient.</a:t>
            </a:r>
          </a:p>
          <a:p>
            <a:endParaRPr dirty="0"/>
          </a:p>
          <a:p>
            <a:r>
              <a:rPr dirty="0"/>
              <a:t>Identify:</a:t>
            </a:r>
          </a:p>
          <a:p>
            <a:r>
              <a:rPr dirty="0"/>
              <a:t>• User input and any data source</a:t>
            </a:r>
          </a:p>
          <a:p>
            <a:r>
              <a:rPr dirty="0"/>
              <a:t>• Prompt/instruction sent to the model</a:t>
            </a:r>
          </a:p>
          <a:p>
            <a:r>
              <a:rPr dirty="0"/>
              <a:t>• GenAI model or service used</a:t>
            </a:r>
          </a:p>
          <a:p>
            <a:r>
              <a:rPr dirty="0"/>
              <a:t>• Processing, rules or validation steps</a:t>
            </a:r>
          </a:p>
          <a:p>
            <a:r>
              <a:rPr dirty="0"/>
              <a:t>• Output returned to the user</a:t>
            </a:r>
          </a:p>
          <a:p>
            <a:endParaRPr dirty="0"/>
          </a:p>
          <a:p>
            <a:r>
              <a:rPr dirty="0"/>
              <a:t>Make it clear where GenAI adds value and where human review or safeguards are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39A2A-8903-EB81-293E-057A95B83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2"/>
          <a:stretch>
            <a:fillRect/>
          </a:stretch>
        </p:blipFill>
        <p:spPr>
          <a:xfrm>
            <a:off x="0" y="1016000"/>
            <a:ext cx="12192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607EA-1EC4-A5CF-1A88-3559B136BE90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914825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6470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Mandatory Progress Evidence — 1</a:t>
            </a:r>
            <a:r>
              <a:rPr lang="en-IN" b="1" dirty="0">
                <a:solidFill>
                  <a:srgbClr val="002060"/>
                </a:solidFill>
              </a:rPr>
              <a:t>1</a:t>
            </a:r>
            <a:r>
              <a:rPr b="1" dirty="0">
                <a:solidFill>
                  <a:srgbClr val="002060"/>
                </a:solidFill>
              </a:rPr>
              <a:t>:00 AM and </a:t>
            </a:r>
            <a:r>
              <a:rPr lang="en-IN" b="1" dirty="0">
                <a:solidFill>
                  <a:srgbClr val="002060"/>
                </a:solidFill>
              </a:rPr>
              <a:t>0</a:t>
            </a:r>
            <a:r>
              <a:rPr b="1" dirty="0">
                <a:solidFill>
                  <a:srgbClr val="002060"/>
                </a:solidFill>
              </a:rPr>
              <a:t>2:00 PM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DF34D-E1C4-9002-1C4F-AEEBBB200058}"/>
              </a:ext>
            </a:extLst>
          </p:cNvPr>
          <p:cNvSpPr>
            <a:spLocks noGrp="1"/>
          </p:cNvSpPr>
          <p:nvPr/>
        </p:nvSpPr>
        <p:spPr>
          <a:xfrm>
            <a:off x="304800" y="1104900"/>
            <a:ext cx="57498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11:00 AM | EARLY BUILD</a:t>
            </a:r>
            <a:endParaRPr lang="en-IN" dirty="0"/>
          </a:p>
          <a:p>
            <a:r>
              <a:rPr lang="en-IN" b="1" dirty="0"/>
              <a:t>Initial prototype</a:t>
            </a:r>
            <a:endParaRPr lang="en-IN" dirty="0"/>
          </a:p>
          <a:p>
            <a:pPr lvl="0"/>
            <a:r>
              <a:rPr lang="en-IN" dirty="0"/>
              <a:t>Selected menstrual-health focus </a:t>
            </a:r>
          </a:p>
          <a:p>
            <a:pPr lvl="0"/>
            <a:r>
              <a:rPr lang="en-IN" dirty="0"/>
              <a:t>Defined NIRA's core journey </a:t>
            </a:r>
          </a:p>
          <a:p>
            <a:pPr lvl="0"/>
            <a:r>
              <a:rPr lang="en-IN" dirty="0"/>
              <a:t>Built the first </a:t>
            </a:r>
            <a:r>
              <a:rPr lang="en-IN" dirty="0" err="1"/>
              <a:t>PartyRock</a:t>
            </a:r>
            <a:r>
              <a:rPr lang="en-IN" dirty="0"/>
              <a:t> structure </a:t>
            </a:r>
          </a:p>
          <a:p>
            <a:pPr lvl="0"/>
            <a:r>
              <a:rPr lang="en-IN" dirty="0"/>
              <a:t>Tested the initial prompt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34DEF9BE-9EB6-281C-FE72-F0E89A1B57FB}"/>
              </a:ext>
            </a:extLst>
          </p:cNvPr>
          <p:cNvSpPr>
            <a:spLocks noGrp="1"/>
          </p:cNvSpPr>
          <p:nvPr/>
        </p:nvSpPr>
        <p:spPr>
          <a:xfrm>
            <a:off x="6137356" y="1104899"/>
            <a:ext cx="57498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02:00 PM | DEVELOPED BUILD</a:t>
            </a:r>
            <a:endParaRPr lang="en-IN" dirty="0"/>
          </a:p>
          <a:p>
            <a:r>
              <a:rPr lang="en-IN" b="1" dirty="0"/>
              <a:t>Refined prototype</a:t>
            </a:r>
            <a:endParaRPr lang="en-IN" dirty="0"/>
          </a:p>
          <a:p>
            <a:pPr lvl="0"/>
            <a:r>
              <a:rPr lang="en-IN" dirty="0"/>
              <a:t>Improved prompt and response quality </a:t>
            </a:r>
          </a:p>
          <a:p>
            <a:pPr lvl="0"/>
            <a:r>
              <a:rPr lang="en-IN" dirty="0"/>
              <a:t>Added safety-first navigation </a:t>
            </a:r>
          </a:p>
          <a:p>
            <a:pPr lvl="0"/>
            <a:r>
              <a:rPr lang="en-IN" dirty="0"/>
              <a:t>Added consultation preparation </a:t>
            </a:r>
          </a:p>
          <a:p>
            <a:pPr lvl="0"/>
            <a:r>
              <a:rPr lang="en-IN" dirty="0"/>
              <a:t>Tested multilingual/simple-language responses</a:t>
            </a:r>
          </a:p>
          <a:p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284D7-1C15-D46C-555F-8EB8B2967B91}"/>
              </a:ext>
            </a:extLst>
          </p:cNvPr>
          <p:cNvSpPr txBox="1"/>
          <p:nvPr/>
        </p:nvSpPr>
        <p:spPr>
          <a:xfrm>
            <a:off x="304800" y="5828715"/>
            <a:ext cx="115824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From a basic concept to a tested health-navigation prototype through rapid iteration and prompt refinement.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71694-4A8D-5411-6149-467D3399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8" y="1104899"/>
            <a:ext cx="4917442" cy="28138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25EEE1-3104-8AB8-6D4F-528684984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760" y="1104899"/>
            <a:ext cx="5080000" cy="281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8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29982"/>
            <a:ext cx="870121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AI Tools and Prompts Used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03671B-A801-F942-26F5-06945BA7C01B}"/>
              </a:ext>
            </a:extLst>
          </p:cNvPr>
          <p:cNvSpPr>
            <a:spLocks noGrp="1"/>
          </p:cNvSpPr>
          <p:nvPr/>
        </p:nvSpPr>
        <p:spPr>
          <a:xfrm>
            <a:off x="304800" y="1104900"/>
            <a:ext cx="1158240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AWS </a:t>
            </a:r>
            <a:r>
              <a:rPr lang="en-IN" sz="2800" b="1" dirty="0" err="1"/>
              <a:t>PartyRock</a:t>
            </a:r>
            <a:r>
              <a:rPr lang="en-IN" sz="2800" b="1" dirty="0"/>
              <a:t>, </a:t>
            </a:r>
            <a:r>
              <a:rPr lang="en-IN" sz="2800" b="1" dirty="0" err="1"/>
              <a:t>ChatGpt</a:t>
            </a:r>
            <a:r>
              <a:rPr lang="en-IN" sz="2800" b="1" dirty="0"/>
              <a:t> &amp; Gemini</a:t>
            </a:r>
          </a:p>
          <a:p>
            <a:r>
              <a:rPr lang="en-IN" sz="2400" b="1" dirty="0"/>
              <a:t>Purpose</a:t>
            </a:r>
            <a:br>
              <a:rPr lang="en-IN" dirty="0"/>
            </a:br>
            <a:r>
              <a:rPr lang="en-IN" sz="2000" dirty="0"/>
              <a:t>Built and refined NIRA as a working GenAI health-navigation prototype.</a:t>
            </a:r>
          </a:p>
          <a:p>
            <a:endParaRPr lang="en-IN" sz="2000" dirty="0"/>
          </a:p>
          <a:p>
            <a:r>
              <a:rPr lang="en-IN" sz="2400" b="1" dirty="0"/>
              <a:t>Prompt Iterations</a:t>
            </a:r>
            <a:endParaRPr lang="en-IN" sz="2400" dirty="0"/>
          </a:p>
          <a:p>
            <a:pPr lvl="0"/>
            <a:r>
              <a:rPr lang="en-IN" sz="2000" b="1" dirty="0"/>
              <a:t>Understand</a:t>
            </a:r>
            <a:r>
              <a:rPr lang="en-IN" sz="2000" dirty="0"/>
              <a:t> — “Understand the user’s menstrual-health concern.”</a:t>
            </a:r>
          </a:p>
          <a:p>
            <a:pPr lvl="0"/>
            <a:r>
              <a:rPr lang="en-IN" sz="2000" b="1" dirty="0"/>
              <a:t>Explain</a:t>
            </a:r>
            <a:r>
              <a:rPr lang="en-IN" sz="2000" dirty="0"/>
              <a:t> — “Explain in simple language without diagnosing.”</a:t>
            </a:r>
          </a:p>
          <a:p>
            <a:pPr lvl="0"/>
            <a:r>
              <a:rPr lang="en-IN" sz="2000" b="1" dirty="0"/>
              <a:t>Navigate</a:t>
            </a:r>
            <a:r>
              <a:rPr lang="en-IN" sz="2000" dirty="0"/>
              <a:t> — “Identify red flags, suggest the next step, and prepare questions for a healthcare professional.”</a:t>
            </a:r>
          </a:p>
          <a:p>
            <a:pPr lvl="0"/>
            <a:r>
              <a:rPr lang="en-IN" sz="2000" b="1" dirty="0"/>
              <a:t>Generate</a:t>
            </a:r>
            <a:r>
              <a:rPr lang="en-IN" sz="2000" dirty="0"/>
              <a:t> — “Create clear, minimal, visually engaging PPT slides in a simple, easy-to-understand format.”</a:t>
            </a:r>
          </a:p>
          <a:p>
            <a:pPr lvl="0"/>
            <a:endParaRPr lang="en-IN" sz="2000" dirty="0"/>
          </a:p>
          <a:p>
            <a:r>
              <a:rPr lang="en-IN" sz="2400" b="1" dirty="0"/>
              <a:t>Refinement</a:t>
            </a:r>
            <a:br>
              <a:rPr lang="en-IN" dirty="0"/>
            </a:br>
            <a:r>
              <a:rPr lang="en-IN" sz="2000" b="1" dirty="0">
                <a:solidFill>
                  <a:srgbClr val="4C3071"/>
                </a:solidFill>
              </a:rPr>
              <a:t>Broad responses → safety boundaries → structured guidance → actionable output</a:t>
            </a:r>
          </a:p>
          <a:p>
            <a:endParaRPr lang="en-IN" dirty="0">
              <a:solidFill>
                <a:srgbClr val="4C3071"/>
              </a:solidFill>
            </a:endParaRPr>
          </a:p>
          <a:p>
            <a:r>
              <a:rPr lang="en-IN" sz="2400" b="1" dirty="0"/>
              <a:t>Grounding</a:t>
            </a:r>
            <a:br>
              <a:rPr lang="en-IN" dirty="0"/>
            </a:br>
            <a:r>
              <a:rPr lang="en-IN" sz="2000" dirty="0"/>
              <a:t>Trusted health information used for educational and safety guidance.</a:t>
            </a:r>
          </a:p>
          <a:p>
            <a:r>
              <a:rPr lang="en-IN" sz="2000" dirty="0"/>
              <a:t>This gives the evaluator the </a:t>
            </a:r>
            <a:r>
              <a:rPr lang="en-IN" sz="2000" b="1" dirty="0"/>
              <a:t>tool + purpose + 3 prompt excerpts + refinement + references</a:t>
            </a:r>
            <a:r>
              <a:rPr lang="en-IN" sz="2000" dirty="0"/>
              <a:t> required by the template, without becoming a text-heavy slide.</a:t>
            </a:r>
          </a:p>
        </p:txBody>
      </p:sp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875201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Testing Performed and Results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03671B-A801-F942-26F5-06945BA7C01B}"/>
              </a:ext>
            </a:extLst>
          </p:cNvPr>
          <p:cNvSpPr>
            <a:spLocks noGrp="1"/>
          </p:cNvSpPr>
          <p:nvPr/>
        </p:nvSpPr>
        <p:spPr>
          <a:xfrm>
            <a:off x="304800" y="1104900"/>
            <a:ext cx="115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8C695A-ECD4-194D-02AF-AD66A9EF0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206347"/>
              </p:ext>
            </p:extLst>
          </p:nvPr>
        </p:nvGraphicFramePr>
        <p:xfrm>
          <a:off x="401320" y="3167025"/>
          <a:ext cx="10358120" cy="3481313"/>
        </p:xfrm>
        <a:graphic>
          <a:graphicData uri="http://schemas.openxmlformats.org/drawingml/2006/table">
            <a:tbl>
              <a:tblPr/>
              <a:tblGrid>
                <a:gridCol w="2589530">
                  <a:extLst>
                    <a:ext uri="{9D8B030D-6E8A-4147-A177-3AD203B41FA5}">
                      <a16:colId xmlns:a16="http://schemas.microsoft.com/office/drawing/2014/main" val="150982381"/>
                    </a:ext>
                  </a:extLst>
                </a:gridCol>
                <a:gridCol w="2589530">
                  <a:extLst>
                    <a:ext uri="{9D8B030D-6E8A-4147-A177-3AD203B41FA5}">
                      <a16:colId xmlns:a16="http://schemas.microsoft.com/office/drawing/2014/main" val="2996659851"/>
                    </a:ext>
                  </a:extLst>
                </a:gridCol>
                <a:gridCol w="2589530">
                  <a:extLst>
                    <a:ext uri="{9D8B030D-6E8A-4147-A177-3AD203B41FA5}">
                      <a16:colId xmlns:a16="http://schemas.microsoft.com/office/drawing/2014/main" val="3375066379"/>
                    </a:ext>
                  </a:extLst>
                </a:gridCol>
                <a:gridCol w="2589530">
                  <a:extLst>
                    <a:ext uri="{9D8B030D-6E8A-4147-A177-3AD203B41FA5}">
                      <a16:colId xmlns:a16="http://schemas.microsoft.com/office/drawing/2014/main" val="3760311299"/>
                    </a:ext>
                  </a:extLst>
                </a:gridCol>
              </a:tblGrid>
              <a:tr h="437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T</a:t>
                      </a:r>
                      <a:r>
                        <a:rPr lang="en-IN" b="1" baseline="0" dirty="0"/>
                        <a:t>est / Iteration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/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/>
                        <a:t>Actual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97048"/>
                  </a:ext>
                </a:extLst>
              </a:tr>
              <a:tr h="764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 dirty="0"/>
                        <a:t>Initial prompt</a:t>
                      </a:r>
                      <a:endParaRPr lang="en-IN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Generate NIRA 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Server issue; output not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⚠️ Retried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75311"/>
                  </a:ext>
                </a:extLst>
              </a:tr>
              <a:tr h="437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/>
                        <a:t>First build</a:t>
                      </a:r>
                      <a:endParaRPr lang="en-IN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Create app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Basic skeleton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87512"/>
                  </a:ext>
                </a:extLst>
              </a:tr>
              <a:tr h="437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/>
                        <a:t>UI refinement</a:t>
                      </a:r>
                      <a:endParaRPr lang="en-IN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Improve NIRA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Cleaner UI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210086"/>
                  </a:ext>
                </a:extLst>
              </a:tr>
              <a:tr h="764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/>
                        <a:t>Widget refinement</a:t>
                      </a:r>
                      <a:endParaRPr lang="en-IN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Add widgets for NIRA journey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Widgets added; manually adjusted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219358"/>
                  </a:ext>
                </a:extLst>
              </a:tr>
              <a:tr h="437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baseline="0"/>
                        <a:t>Dropdown request</a:t>
                      </a:r>
                      <a:endParaRPr lang="en-IN" baseline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/>
                        <a:t>Simplify widget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Dropdown added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aseline="0" dirty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5868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9721B2-E08A-2E48-421D-0342852AE96F}"/>
              </a:ext>
            </a:extLst>
          </p:cNvPr>
          <p:cNvSpPr txBox="1"/>
          <p:nvPr/>
        </p:nvSpPr>
        <p:spPr>
          <a:xfrm>
            <a:off x="304800" y="1347946"/>
            <a:ext cx="11460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Key Learning</a:t>
            </a:r>
          </a:p>
          <a:p>
            <a:r>
              <a:rPr lang="en-IN" sz="2000" dirty="0"/>
              <a:t>The best result came from iterative prompting—not the first prompt.</a:t>
            </a:r>
          </a:p>
          <a:p>
            <a:r>
              <a:rPr lang="en-IN" sz="2000" b="1" dirty="0"/>
              <a:t>Prompt → Observe → Refine → Manually configure → Retest</a:t>
            </a:r>
            <a:endParaRPr lang="en-IN" sz="2000" dirty="0"/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Improvement:</a:t>
            </a:r>
            <a:r>
              <a:rPr lang="en-IN" sz="2000" dirty="0"/>
              <a:t> Iterative prompting + manual widget configuration produced a more usable NIRA interface.</a:t>
            </a:r>
          </a:p>
        </p:txBody>
      </p:sp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846753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Responsible AI Considerations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A3FF5-DE00-13C5-597D-D5FAAC044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032842"/>
              </p:ext>
            </p:extLst>
          </p:nvPr>
        </p:nvGraphicFramePr>
        <p:xfrm>
          <a:off x="640080" y="1198881"/>
          <a:ext cx="9723120" cy="2440508"/>
        </p:xfrm>
        <a:graphic>
          <a:graphicData uri="http://schemas.openxmlformats.org/drawingml/2006/table">
            <a:tbl>
              <a:tblPr/>
              <a:tblGrid>
                <a:gridCol w="2247282">
                  <a:extLst>
                    <a:ext uri="{9D8B030D-6E8A-4147-A177-3AD203B41FA5}">
                      <a16:colId xmlns:a16="http://schemas.microsoft.com/office/drawing/2014/main" val="2511165596"/>
                    </a:ext>
                  </a:extLst>
                </a:gridCol>
                <a:gridCol w="7475838">
                  <a:extLst>
                    <a:ext uri="{9D8B030D-6E8A-4147-A177-3AD203B41FA5}">
                      <a16:colId xmlns:a16="http://schemas.microsoft.com/office/drawing/2014/main" val="2918063093"/>
                    </a:ext>
                  </a:extLst>
                </a:gridCol>
              </a:tblGrid>
              <a:tr h="35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RISK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NIRA SAFEGUARD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004672"/>
                  </a:ext>
                </a:extLst>
              </a:tr>
              <a:tr h="49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🔒 </a:t>
                      </a:r>
                      <a:r>
                        <a:rPr lang="en-IN" b="1" dirty="0"/>
                        <a:t>Privacy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Collect only necessary information; avoid storing sensitive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09584"/>
                  </a:ext>
                </a:extLst>
              </a:tr>
              <a:tr h="402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⚖️ </a:t>
                      </a:r>
                      <a:r>
                        <a:rPr lang="en-IN" b="1"/>
                        <a:t>Bias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Simple, inclusive language + multilingual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372776"/>
                  </a:ext>
                </a:extLst>
              </a:tr>
              <a:tr h="402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⚠️ </a:t>
                      </a:r>
                      <a:r>
                        <a:rPr lang="en-IN" b="1"/>
                        <a:t>Harmful Output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 diagnosis/prescription</a:t>
                      </a:r>
                      <a:r>
                        <a:rPr lang="en-IN" dirty="0"/>
                        <a:t> + red-flag escalation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86243"/>
                  </a:ext>
                </a:extLst>
              </a:tr>
              <a:tr h="35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🛡️ </a:t>
                      </a:r>
                      <a:r>
                        <a:rPr lang="en-IN" b="1" dirty="0"/>
                        <a:t>Misuse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Clear boundaries: education ≠ medical advice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143054"/>
                  </a:ext>
                </a:extLst>
              </a:tr>
              <a:tr h="4126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👩‍⚕️ </a:t>
                      </a:r>
                      <a:r>
                        <a:rPr lang="en-IN" b="1" dirty="0"/>
                        <a:t>Human Oversight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Encourage professional care when symptoms require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500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CD7F3D-C084-EDC5-F059-ED954D36B925}"/>
              </a:ext>
            </a:extLst>
          </p:cNvPr>
          <p:cNvSpPr txBox="1"/>
          <p:nvPr/>
        </p:nvSpPr>
        <p:spPr>
          <a:xfrm>
            <a:off x="528320" y="3786016"/>
            <a:ext cx="116636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Bottom highlight</a:t>
            </a:r>
          </a:p>
          <a:p>
            <a:pPr>
              <a:buNone/>
            </a:pPr>
            <a:r>
              <a:rPr lang="en-IN" b="1" dirty="0"/>
              <a:t>NIRA informs — it never diagnoses.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AI explains → Safety checks → Woman decides → Professional care when needed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For the slide design</a:t>
            </a:r>
          </a:p>
          <a:p>
            <a:pPr>
              <a:buNone/>
            </a:pPr>
            <a:r>
              <a:rPr lang="en-IN" dirty="0"/>
              <a:t>Keep it </a:t>
            </a:r>
            <a:r>
              <a:rPr lang="en-IN" b="1" dirty="0"/>
              <a:t>white background + black text</a:t>
            </a:r>
            <a:r>
              <a:rPr lang="en-IN" dirty="0"/>
              <a:t>, with </a:t>
            </a:r>
            <a:r>
              <a:rPr lang="en-IN" b="1" dirty="0"/>
              <a:t>one small accent </a:t>
            </a:r>
            <a:r>
              <a:rPr lang="en-IN" b="1" dirty="0" err="1"/>
              <a:t>color</a:t>
            </a:r>
            <a:r>
              <a:rPr lang="en-IN" dirty="0"/>
              <a:t> only.</a:t>
            </a:r>
            <a:br>
              <a:rPr lang="en-IN" dirty="0"/>
            </a:br>
            <a:r>
              <a:rPr lang="en-IN" dirty="0"/>
              <a:t>Use </a:t>
            </a:r>
            <a:r>
              <a:rPr lang="en-IN" b="1" dirty="0"/>
              <a:t>5 compact risk → safeguard cards</a:t>
            </a:r>
            <a:r>
              <a:rPr lang="en-IN" dirty="0"/>
              <a:t>, large text, plenty of whitespace, and no large illustrations.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AWS </a:t>
            </a:r>
            <a:r>
              <a:rPr lang="en-IN" b="1" dirty="0" err="1"/>
              <a:t>Partyrock</a:t>
            </a:r>
            <a:r>
              <a:rPr lang="en-IN" b="1" dirty="0"/>
              <a:t> APP Link: </a:t>
            </a:r>
            <a:r>
              <a:rPr lang="en-IN" dirty="0">
                <a:hlinkClick r:id="rId3"/>
              </a:rPr>
              <a:t>https://partyrock.aws/u/geethikadasari/rVxVouJms7/NIRA-Women's-Menstrual-Health-Navigator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5729-3F1B-A731-91FF-3230A0A74EFC}"/>
              </a:ext>
            </a:extLst>
          </p:cNvPr>
          <p:cNvSpPr>
            <a:spLocks noGrp="1"/>
          </p:cNvSpPr>
          <p:nvPr/>
        </p:nvSpPr>
        <p:spPr>
          <a:xfrm>
            <a:off x="1641670" y="209662"/>
            <a:ext cx="8731690" cy="519009"/>
          </a:xfrm>
          <a:prstGeom prst="rect">
            <a:avLst/>
          </a:prstGeom>
        </p:spPr>
        <p:txBody>
          <a:bodyPr vert="horz" lIns="91440" tIns="45720" rIns="91440" bIns="45720">
            <a:normAutofit fontScale="9326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buNone/>
            </a:pPr>
            <a:r>
              <a:rPr b="1" dirty="0">
                <a:solidFill>
                  <a:srgbClr val="002060"/>
                </a:solidFill>
              </a:rPr>
              <a:t>Impact, Feasibility and Sustainability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ED1F8-85D8-0449-AE55-390F025A5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5"/>
          <a:stretch>
            <a:fillRect/>
          </a:stretch>
        </p:blipFill>
        <p:spPr>
          <a:xfrm>
            <a:off x="0" y="1014705"/>
            <a:ext cx="12192000" cy="584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42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594</Words>
  <Application>Microsoft Office PowerPoint</Application>
  <DocSecurity>0</DocSecurity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Geethika Dasari</cp:lastModifiedBy>
  <cp:revision>5</cp:revision>
  <dcterms:created xsi:type="dcterms:W3CDTF">2026-08-05T13:27:50Z</dcterms:created>
  <dcterms:modified xsi:type="dcterms:W3CDTF">2026-08-08T08:21:12Z</dcterms:modified>
</cp:coreProperties>
</file>